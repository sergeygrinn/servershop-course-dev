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71" r:id="rId8"/>
    <p:sldId id="261" r:id="rId9"/>
    <p:sldId id="26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D5BE"/>
    <a:srgbClr val="ACA680"/>
    <a:srgbClr val="A9A37C"/>
    <a:srgbClr val="676C4E"/>
    <a:srgbClr val="515A44"/>
    <a:srgbClr val="638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8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0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42352E4-FDFC-49BD-AB07-81457E10504E}" type="datetimeFigureOut">
              <a:rPr lang="ru-RU" smtClean="0"/>
              <a:t>15.10.2026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F1BB6C1-33C1-43B0-9D5B-0C1E16637E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0752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2E4-FDFC-49BD-AB07-81457E10504E}" type="datetimeFigureOut">
              <a:rPr lang="ru-RU" smtClean="0"/>
              <a:t>15.10.2026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BB6C1-33C1-43B0-9D5B-0C1E16637E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7771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2E4-FDFC-49BD-AB07-81457E10504E}" type="datetimeFigureOut">
              <a:rPr lang="ru-RU" smtClean="0"/>
              <a:t>15.10.2026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BB6C1-33C1-43B0-9D5B-0C1E16637E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514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2E4-FDFC-49BD-AB07-81457E10504E}" type="datetimeFigureOut">
              <a:rPr lang="ru-RU" smtClean="0"/>
              <a:t>15.10.2026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BB6C1-33C1-43B0-9D5B-0C1E16637E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2510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2E4-FDFC-49BD-AB07-81457E10504E}" type="datetimeFigureOut">
              <a:rPr lang="ru-RU" smtClean="0"/>
              <a:t>15.10.2026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BB6C1-33C1-43B0-9D5B-0C1E16637E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56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2E4-FDFC-49BD-AB07-81457E10504E}" type="datetimeFigureOut">
              <a:rPr lang="ru-RU" smtClean="0"/>
              <a:t>15.10.2026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BB6C1-33C1-43B0-9D5B-0C1E16637E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5801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2E4-FDFC-49BD-AB07-81457E10504E}" type="datetimeFigureOut">
              <a:rPr lang="ru-RU" smtClean="0"/>
              <a:t>15.10.2026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BB6C1-33C1-43B0-9D5B-0C1E16637E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6459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2E4-FDFC-49BD-AB07-81457E10504E}" type="datetimeFigureOut">
              <a:rPr lang="ru-RU" smtClean="0"/>
              <a:t>15.10.2026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BB6C1-33C1-43B0-9D5B-0C1E16637E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794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2E4-FDFC-49BD-AB07-81457E10504E}" type="datetimeFigureOut">
              <a:rPr lang="ru-RU" smtClean="0"/>
              <a:t>15.10.2026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BB6C1-33C1-43B0-9D5B-0C1E16637E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898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2E4-FDFC-49BD-AB07-81457E10504E}" type="datetimeFigureOut">
              <a:rPr lang="ru-RU" smtClean="0"/>
              <a:t>15.10.2026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BB6C1-33C1-43B0-9D5B-0C1E16637E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069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2E4-FDFC-49BD-AB07-81457E10504E}" type="datetimeFigureOut">
              <a:rPr lang="ru-RU" smtClean="0"/>
              <a:t>15.10.2026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BB6C1-33C1-43B0-9D5B-0C1E16637E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0722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2E4-FDFC-49BD-AB07-81457E10504E}" type="datetimeFigureOut">
              <a:rPr lang="ru-RU" smtClean="0"/>
              <a:t>15.10.2026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BB6C1-33C1-43B0-9D5B-0C1E16637E43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5313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2E4-FDFC-49BD-AB07-81457E10504E}" type="datetimeFigureOut">
              <a:rPr lang="ru-RU" smtClean="0"/>
              <a:t>15.10.2026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BB6C1-33C1-43B0-9D5B-0C1E16637E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8617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2E4-FDFC-49BD-AB07-81457E10504E}" type="datetimeFigureOut">
              <a:rPr lang="ru-RU" smtClean="0"/>
              <a:t>15.10.2026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BB6C1-33C1-43B0-9D5B-0C1E16637E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50485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2E4-FDFC-49BD-AB07-81457E10504E}" type="datetimeFigureOut">
              <a:rPr lang="ru-RU" smtClean="0"/>
              <a:t>15.10.2026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BB6C1-33C1-43B0-9D5B-0C1E16637E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40602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2E4-FDFC-49BD-AB07-81457E10504E}" type="datetimeFigureOut">
              <a:rPr lang="ru-RU" smtClean="0"/>
              <a:t>15.10.2026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BB6C1-33C1-43B0-9D5B-0C1E16637E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3668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352E4-FDFC-49BD-AB07-81457E10504E}" type="datetimeFigureOut">
              <a:rPr lang="ru-RU" smtClean="0"/>
              <a:t>15.10.2026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BB6C1-33C1-43B0-9D5B-0C1E16637E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7950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u-RU" dirty="0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352E4-FDFC-49BD-AB07-81457E10504E}" type="datetimeFigureOut">
              <a:rPr lang="ru-RU" smtClean="0"/>
              <a:t>15.10.2026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BB6C1-33C1-43B0-9D5B-0C1E16637E4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56690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D6A640B-6684-4338-9199-6EE758735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57" name="Group 9">
            <a:extLst>
              <a:ext uri="{FF2B5EF4-FFF2-40B4-BE49-F238E27FC236}">
                <a16:creationId xmlns:a16="http://schemas.microsoft.com/office/drawing/2014/main" id="{5BAB052D-92E4-4715-895B-E42323075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2305051" cy="6858001"/>
            <a:chOff x="0" y="0"/>
            <a:chExt cx="2305051" cy="6858001"/>
          </a:xfrm>
          <a:solidFill>
            <a:schemeClr val="bg2">
              <a:lumMod val="60000"/>
              <a:lumOff val="40000"/>
              <a:alpha val="60000"/>
            </a:schemeClr>
          </a:solidFill>
          <a:effectLst/>
        </p:grpSpPr>
        <p:sp>
          <p:nvSpPr>
            <p:cNvPr id="458" name="Rectangle 5">
              <a:extLst>
                <a:ext uri="{FF2B5EF4-FFF2-40B4-BE49-F238E27FC236}">
                  <a16:creationId xmlns:a16="http://schemas.microsoft.com/office/drawing/2014/main" id="{F9792D54-14D4-44D6-A491-DEA72C26C3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59" name="Freeform 6">
              <a:extLst>
                <a:ext uri="{FF2B5EF4-FFF2-40B4-BE49-F238E27FC236}">
                  <a16:creationId xmlns:a16="http://schemas.microsoft.com/office/drawing/2014/main" id="{D3CB19E7-637B-4FA1-B5E7-E35CF50AD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60" name="Freeform 7">
              <a:extLst>
                <a:ext uri="{FF2B5EF4-FFF2-40B4-BE49-F238E27FC236}">
                  <a16:creationId xmlns:a16="http://schemas.microsoft.com/office/drawing/2014/main" id="{B8CED72B-CBE7-450E-BE7C-247E88439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61" name="Rectangle 8">
              <a:extLst>
                <a:ext uri="{FF2B5EF4-FFF2-40B4-BE49-F238E27FC236}">
                  <a16:creationId xmlns:a16="http://schemas.microsoft.com/office/drawing/2014/main" id="{3BBD7465-3665-40AE-98E8-F8503EE20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62" name="Freeform 9">
              <a:extLst>
                <a:ext uri="{FF2B5EF4-FFF2-40B4-BE49-F238E27FC236}">
                  <a16:creationId xmlns:a16="http://schemas.microsoft.com/office/drawing/2014/main" id="{86CB6F49-3080-4A29-860D-F8F1AC4AC3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63" name="Freeform 10">
              <a:extLst>
                <a:ext uri="{FF2B5EF4-FFF2-40B4-BE49-F238E27FC236}">
                  <a16:creationId xmlns:a16="http://schemas.microsoft.com/office/drawing/2014/main" id="{EA3A8EBB-EC1C-42C6-B409-E065ACD0E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64" name="Freeform 11">
              <a:extLst>
                <a:ext uri="{FF2B5EF4-FFF2-40B4-BE49-F238E27FC236}">
                  <a16:creationId xmlns:a16="http://schemas.microsoft.com/office/drawing/2014/main" id="{0F0AAA08-BD9A-4F88-A60C-F2ECB84CE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65" name="Freeform 12">
              <a:extLst>
                <a:ext uri="{FF2B5EF4-FFF2-40B4-BE49-F238E27FC236}">
                  <a16:creationId xmlns:a16="http://schemas.microsoft.com/office/drawing/2014/main" id="{44ACFC6E-01EE-4A01-8C39-0C4BC6B4EF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66" name="Freeform 13">
              <a:extLst>
                <a:ext uri="{FF2B5EF4-FFF2-40B4-BE49-F238E27FC236}">
                  <a16:creationId xmlns:a16="http://schemas.microsoft.com/office/drawing/2014/main" id="{DDE8B861-702A-45C6-A7C5-D20764B55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67" name="Freeform 14">
              <a:extLst>
                <a:ext uri="{FF2B5EF4-FFF2-40B4-BE49-F238E27FC236}">
                  <a16:creationId xmlns:a16="http://schemas.microsoft.com/office/drawing/2014/main" id="{28DFAFFC-4BAC-4606-8F45-47284ED21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68" name="Freeform 15">
              <a:extLst>
                <a:ext uri="{FF2B5EF4-FFF2-40B4-BE49-F238E27FC236}">
                  <a16:creationId xmlns:a16="http://schemas.microsoft.com/office/drawing/2014/main" id="{B141C913-8CB4-4E5B-B684-BD40367775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69" name="Freeform 16">
              <a:extLst>
                <a:ext uri="{FF2B5EF4-FFF2-40B4-BE49-F238E27FC236}">
                  <a16:creationId xmlns:a16="http://schemas.microsoft.com/office/drawing/2014/main" id="{81E80ADE-DC6D-491B-BAC4-A90D44FD4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70" name="Freeform 17">
              <a:extLst>
                <a:ext uri="{FF2B5EF4-FFF2-40B4-BE49-F238E27FC236}">
                  <a16:creationId xmlns:a16="http://schemas.microsoft.com/office/drawing/2014/main" id="{4A425A61-47B5-41CA-A1D6-21C358B89D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71" name="Freeform 18">
              <a:extLst>
                <a:ext uri="{FF2B5EF4-FFF2-40B4-BE49-F238E27FC236}">
                  <a16:creationId xmlns:a16="http://schemas.microsoft.com/office/drawing/2014/main" id="{B44D4532-40A1-4CEB-8A1C-711180D586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72" name="Freeform 19">
              <a:extLst>
                <a:ext uri="{FF2B5EF4-FFF2-40B4-BE49-F238E27FC236}">
                  <a16:creationId xmlns:a16="http://schemas.microsoft.com/office/drawing/2014/main" id="{31056221-3B7D-4E0B-A366-3E03523EF5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73" name="Freeform 20">
              <a:extLst>
                <a:ext uri="{FF2B5EF4-FFF2-40B4-BE49-F238E27FC236}">
                  <a16:creationId xmlns:a16="http://schemas.microsoft.com/office/drawing/2014/main" id="{0F4CE988-2CA1-4875-8419-BC9914E7A9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74" name="Freeform 21">
              <a:extLst>
                <a:ext uri="{FF2B5EF4-FFF2-40B4-BE49-F238E27FC236}">
                  <a16:creationId xmlns:a16="http://schemas.microsoft.com/office/drawing/2014/main" id="{D5E11DED-8522-4839-A2C5-9D64FBB03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75" name="Freeform 22">
              <a:extLst>
                <a:ext uri="{FF2B5EF4-FFF2-40B4-BE49-F238E27FC236}">
                  <a16:creationId xmlns:a16="http://schemas.microsoft.com/office/drawing/2014/main" id="{3A1EE55C-F160-4A56-ABFE-5EE18FE21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76" name="Freeform 23">
              <a:extLst>
                <a:ext uri="{FF2B5EF4-FFF2-40B4-BE49-F238E27FC236}">
                  <a16:creationId xmlns:a16="http://schemas.microsoft.com/office/drawing/2014/main" id="{519A9CFB-FBD5-4742-9228-976E852BCC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77" name="Freeform 24">
              <a:extLst>
                <a:ext uri="{FF2B5EF4-FFF2-40B4-BE49-F238E27FC236}">
                  <a16:creationId xmlns:a16="http://schemas.microsoft.com/office/drawing/2014/main" id="{E808A3F5-6663-49E0-B6BB-AFBBCD508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78" name="Freeform 25">
              <a:extLst>
                <a:ext uri="{FF2B5EF4-FFF2-40B4-BE49-F238E27FC236}">
                  <a16:creationId xmlns:a16="http://schemas.microsoft.com/office/drawing/2014/main" id="{33A492F1-3A43-47FE-8E3E-4BF2B7864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79" name="Freeform 26">
              <a:extLst>
                <a:ext uri="{FF2B5EF4-FFF2-40B4-BE49-F238E27FC236}">
                  <a16:creationId xmlns:a16="http://schemas.microsoft.com/office/drawing/2014/main" id="{2ED7DF23-0B1F-4E17-8EC2-1B74D318F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80" name="Freeform 27">
              <a:extLst>
                <a:ext uri="{FF2B5EF4-FFF2-40B4-BE49-F238E27FC236}">
                  <a16:creationId xmlns:a16="http://schemas.microsoft.com/office/drawing/2014/main" id="{FE1204BD-7481-4989-957D-B61AEA964A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81" name="Freeform 28">
              <a:extLst>
                <a:ext uri="{FF2B5EF4-FFF2-40B4-BE49-F238E27FC236}">
                  <a16:creationId xmlns:a16="http://schemas.microsoft.com/office/drawing/2014/main" id="{DD3C5673-1874-477D-AE35-B37A91974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82" name="Freeform 29">
              <a:extLst>
                <a:ext uri="{FF2B5EF4-FFF2-40B4-BE49-F238E27FC236}">
                  <a16:creationId xmlns:a16="http://schemas.microsoft.com/office/drawing/2014/main" id="{DA963A0C-386F-4A9E-89E8-67081094B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83" name="Freeform 30">
              <a:extLst>
                <a:ext uri="{FF2B5EF4-FFF2-40B4-BE49-F238E27FC236}">
                  <a16:creationId xmlns:a16="http://schemas.microsoft.com/office/drawing/2014/main" id="{D527BB52-D4EE-4CAA-A8A0-53A27DC7FF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84" name="Freeform 31">
              <a:extLst>
                <a:ext uri="{FF2B5EF4-FFF2-40B4-BE49-F238E27FC236}">
                  <a16:creationId xmlns:a16="http://schemas.microsoft.com/office/drawing/2014/main" id="{2A037511-5E0A-4293-81AB-28C5DC96B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85" name="Freeform 32">
              <a:extLst>
                <a:ext uri="{FF2B5EF4-FFF2-40B4-BE49-F238E27FC236}">
                  <a16:creationId xmlns:a16="http://schemas.microsoft.com/office/drawing/2014/main" id="{42A7FE1C-EF14-483B-B5FC-FDC150282A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86" name="Rectangle 33">
              <a:extLst>
                <a:ext uri="{FF2B5EF4-FFF2-40B4-BE49-F238E27FC236}">
                  <a16:creationId xmlns:a16="http://schemas.microsoft.com/office/drawing/2014/main" id="{45A82D49-825B-47BC-8622-A1D54C5C2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87" name="Freeform 34">
              <a:extLst>
                <a:ext uri="{FF2B5EF4-FFF2-40B4-BE49-F238E27FC236}">
                  <a16:creationId xmlns:a16="http://schemas.microsoft.com/office/drawing/2014/main" id="{039D74A5-B4AF-4800-B941-E5F8CD44E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88" name="Freeform 35">
              <a:extLst>
                <a:ext uri="{FF2B5EF4-FFF2-40B4-BE49-F238E27FC236}">
                  <a16:creationId xmlns:a16="http://schemas.microsoft.com/office/drawing/2014/main" id="{70B5D059-1472-474F-BDE6-881B5D1CD7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89" name="Freeform 36">
              <a:extLst>
                <a:ext uri="{FF2B5EF4-FFF2-40B4-BE49-F238E27FC236}">
                  <a16:creationId xmlns:a16="http://schemas.microsoft.com/office/drawing/2014/main" id="{736D79CC-81E0-4C87-ABAC-58197ADBD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90" name="Freeform 37">
              <a:extLst>
                <a:ext uri="{FF2B5EF4-FFF2-40B4-BE49-F238E27FC236}">
                  <a16:creationId xmlns:a16="http://schemas.microsoft.com/office/drawing/2014/main" id="{7E72BA97-1228-4006-B095-8D9FB45FB1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91" name="Freeform 38">
              <a:extLst>
                <a:ext uri="{FF2B5EF4-FFF2-40B4-BE49-F238E27FC236}">
                  <a16:creationId xmlns:a16="http://schemas.microsoft.com/office/drawing/2014/main" id="{36FA3A99-37FB-4B03-A810-425BC9B379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92" name="Freeform 39">
              <a:extLst>
                <a:ext uri="{FF2B5EF4-FFF2-40B4-BE49-F238E27FC236}">
                  <a16:creationId xmlns:a16="http://schemas.microsoft.com/office/drawing/2014/main" id="{2E45B959-2AD5-4FE4-BF6A-4F011011CF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93" name="Freeform 40">
              <a:extLst>
                <a:ext uri="{FF2B5EF4-FFF2-40B4-BE49-F238E27FC236}">
                  <a16:creationId xmlns:a16="http://schemas.microsoft.com/office/drawing/2014/main" id="{CEE29A17-924F-4EED-A18C-E6A0137E52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94" name="Freeform 41">
              <a:extLst>
                <a:ext uri="{FF2B5EF4-FFF2-40B4-BE49-F238E27FC236}">
                  <a16:creationId xmlns:a16="http://schemas.microsoft.com/office/drawing/2014/main" id="{EFB8BDF1-3A59-4EE5-BFAB-4F4B301E3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95" name="Freeform 42">
              <a:extLst>
                <a:ext uri="{FF2B5EF4-FFF2-40B4-BE49-F238E27FC236}">
                  <a16:creationId xmlns:a16="http://schemas.microsoft.com/office/drawing/2014/main" id="{8F94E417-93B4-4071-A6D1-AE66CA682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96" name="Freeform 43">
              <a:extLst>
                <a:ext uri="{FF2B5EF4-FFF2-40B4-BE49-F238E27FC236}">
                  <a16:creationId xmlns:a16="http://schemas.microsoft.com/office/drawing/2014/main" id="{A18F44A8-385D-4EB4-A013-7EB252A2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97" name="Freeform 44">
              <a:extLst>
                <a:ext uri="{FF2B5EF4-FFF2-40B4-BE49-F238E27FC236}">
                  <a16:creationId xmlns:a16="http://schemas.microsoft.com/office/drawing/2014/main" id="{B25FB320-9784-4EA9-B1AE-3BF9106E6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98" name="Rectangle 45">
              <a:extLst>
                <a:ext uri="{FF2B5EF4-FFF2-40B4-BE49-F238E27FC236}">
                  <a16:creationId xmlns:a16="http://schemas.microsoft.com/office/drawing/2014/main" id="{C9EB05E6-5BE4-4EE1-9F0C-E8B57B362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499" name="Freeform 46">
              <a:extLst>
                <a:ext uri="{FF2B5EF4-FFF2-40B4-BE49-F238E27FC236}">
                  <a16:creationId xmlns:a16="http://schemas.microsoft.com/office/drawing/2014/main" id="{C66CAA98-15DB-4EF7-B2CA-54F523A3C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00" name="Freeform 47">
              <a:extLst>
                <a:ext uri="{FF2B5EF4-FFF2-40B4-BE49-F238E27FC236}">
                  <a16:creationId xmlns:a16="http://schemas.microsoft.com/office/drawing/2014/main" id="{7A30C330-EB27-4D08-82D2-7311A8505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01" name="Freeform 48">
              <a:extLst>
                <a:ext uri="{FF2B5EF4-FFF2-40B4-BE49-F238E27FC236}">
                  <a16:creationId xmlns:a16="http://schemas.microsoft.com/office/drawing/2014/main" id="{285C54D0-DCD8-43CD-AE6D-00487565C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02" name="Freeform 49">
              <a:extLst>
                <a:ext uri="{FF2B5EF4-FFF2-40B4-BE49-F238E27FC236}">
                  <a16:creationId xmlns:a16="http://schemas.microsoft.com/office/drawing/2014/main" id="{BC525C34-0A4A-4042-8FA3-F64A115AE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03" name="Freeform 50">
              <a:extLst>
                <a:ext uri="{FF2B5EF4-FFF2-40B4-BE49-F238E27FC236}">
                  <a16:creationId xmlns:a16="http://schemas.microsoft.com/office/drawing/2014/main" id="{870751A2-DBE9-4631-86D3-800E774916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04" name="Freeform 51">
              <a:extLst>
                <a:ext uri="{FF2B5EF4-FFF2-40B4-BE49-F238E27FC236}">
                  <a16:creationId xmlns:a16="http://schemas.microsoft.com/office/drawing/2014/main" id="{ED6D7806-3E23-488D-80ED-281D3DA720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05" name="Freeform 52">
              <a:extLst>
                <a:ext uri="{FF2B5EF4-FFF2-40B4-BE49-F238E27FC236}">
                  <a16:creationId xmlns:a16="http://schemas.microsoft.com/office/drawing/2014/main" id="{170E0895-F9C9-44BA-AF81-F7938C7E4F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06" name="Freeform 53">
              <a:extLst>
                <a:ext uri="{FF2B5EF4-FFF2-40B4-BE49-F238E27FC236}">
                  <a16:creationId xmlns:a16="http://schemas.microsoft.com/office/drawing/2014/main" id="{75AD3DD3-BD4A-4DD9-9AC1-C60E34174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07" name="Freeform 54">
              <a:extLst>
                <a:ext uri="{FF2B5EF4-FFF2-40B4-BE49-F238E27FC236}">
                  <a16:creationId xmlns:a16="http://schemas.microsoft.com/office/drawing/2014/main" id="{D047B55E-0847-4696-8101-A643C3C7E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08" name="Freeform 55">
              <a:extLst>
                <a:ext uri="{FF2B5EF4-FFF2-40B4-BE49-F238E27FC236}">
                  <a16:creationId xmlns:a16="http://schemas.microsoft.com/office/drawing/2014/main" id="{CB3EF1DB-37BD-463B-A542-7AA57DC9F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09" name="Freeform 56">
              <a:extLst>
                <a:ext uri="{FF2B5EF4-FFF2-40B4-BE49-F238E27FC236}">
                  <a16:creationId xmlns:a16="http://schemas.microsoft.com/office/drawing/2014/main" id="{95D0E013-2F18-4248-9D83-3BFF25A05C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10" name="Freeform 57">
              <a:extLst>
                <a:ext uri="{FF2B5EF4-FFF2-40B4-BE49-F238E27FC236}">
                  <a16:creationId xmlns:a16="http://schemas.microsoft.com/office/drawing/2014/main" id="{E7D95722-3A1F-4917-8C16-D4D409941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11" name="Freeform 58">
              <a:extLst>
                <a:ext uri="{FF2B5EF4-FFF2-40B4-BE49-F238E27FC236}">
                  <a16:creationId xmlns:a16="http://schemas.microsoft.com/office/drawing/2014/main" id="{A54912BE-A961-4720-992C-09A2D13DE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 dirty="0"/>
            </a:p>
          </p:txBody>
        </p:sp>
      </p:grpSp>
      <p:sp useBgFill="1">
        <p:nvSpPr>
          <p:cNvPr id="512" name="Round Diagonal Corner Rectangle 7">
            <a:extLst>
              <a:ext uri="{FF2B5EF4-FFF2-40B4-BE49-F238E27FC236}">
                <a16:creationId xmlns:a16="http://schemas.microsoft.com/office/drawing/2014/main" id="{FF5E4228-419E-44B9-B090-94A9540E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079" y="0"/>
            <a:ext cx="8132922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C2C9E1-11B5-08A8-1CBD-3CBDB3EDF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4296" y="963613"/>
            <a:ext cx="6013703" cy="4149724"/>
          </a:xfrm>
        </p:spPr>
        <p:txBody>
          <a:bodyPr anchor="ctr">
            <a:normAutofit/>
          </a:bodyPr>
          <a:lstStyle/>
          <a:p>
            <a:r>
              <a:rPr lang="lv-LV" sz="600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Tīmekļa vietne lokālo serveru pārdošanai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F30829-8452-1B09-EECF-73666C91A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571" y="963612"/>
            <a:ext cx="2502269" cy="4149725"/>
          </a:xfrm>
        </p:spPr>
        <p:txBody>
          <a:bodyPr anchor="ctr">
            <a:normAutofit/>
          </a:bodyPr>
          <a:lstStyle/>
          <a:p>
            <a:pPr algn="r"/>
            <a:r>
              <a:rPr lang="lv-LV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Kursa darba autors: Sergejs Grinkevičs</a:t>
            </a:r>
          </a:p>
        </p:txBody>
      </p:sp>
    </p:spTree>
    <p:extLst>
      <p:ext uri="{BB962C8B-B14F-4D97-AF65-F5344CB8AC3E}">
        <p14:creationId xmlns:p14="http://schemas.microsoft.com/office/powerpoint/2010/main" val="2343208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7B543D-A610-B2A6-D50C-0192D0C26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Projekta mērķis un uzdevumi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9302D1-6FE3-3A36-84B1-FC8C7385E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190625"/>
            <a:ext cx="9905999" cy="53911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M</a:t>
            </a:r>
            <a:r>
              <a:rPr lang="lv-LV" b="1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ērķis:</a:t>
            </a:r>
          </a:p>
          <a:p>
            <a:r>
              <a:rPr lang="ru-RU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Izveidot tīmekļa vietni serveru konfigurēšanai un pasūtīšanai.</a:t>
            </a:r>
            <a:endParaRPr lang="lv-LV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pPr marL="0" indent="0">
              <a:buNone/>
            </a:pPr>
            <a:r>
              <a:rPr lang="lv-LV" b="1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Uzdevumi:</a:t>
            </a:r>
          </a:p>
          <a:p>
            <a:r>
              <a:rPr lang="ru-RU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Lietotāju</a:t>
            </a:r>
            <a:r>
              <a:rPr lang="ru-RU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 </a:t>
            </a:r>
            <a:r>
              <a:rPr lang="ru-RU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autorizācija</a:t>
            </a:r>
            <a:r>
              <a:rPr lang="ru-RU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 </a:t>
            </a:r>
            <a:r>
              <a:rPr lang="lv-LV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un </a:t>
            </a:r>
            <a:r>
              <a:rPr lang="en-US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e-pasta </a:t>
            </a:r>
            <a:r>
              <a:rPr lang="en-US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apstiprin</a:t>
            </a:r>
            <a:r>
              <a:rPr lang="lv-LV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āšana</a:t>
            </a:r>
            <a:endParaRPr lang="lv-LV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r>
              <a:rPr lang="ru-RU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Serveru</a:t>
            </a:r>
            <a:r>
              <a:rPr lang="ru-RU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 </a:t>
            </a:r>
            <a:r>
              <a:rPr lang="ru-RU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katalog</a:t>
            </a:r>
            <a:r>
              <a:rPr lang="lv-LV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s ar filtriem</a:t>
            </a:r>
          </a:p>
          <a:p>
            <a:r>
              <a:rPr lang="ru-RU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Serveru</a:t>
            </a:r>
            <a:r>
              <a:rPr lang="ru-RU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 konfigurēšana </a:t>
            </a:r>
            <a:endParaRPr lang="lv-LV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r>
              <a:rPr lang="ru-RU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Iepirkumu groza funkcionalitāte </a:t>
            </a:r>
            <a:endParaRPr lang="lv-LV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r>
              <a:rPr lang="ru-RU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Pasūtījumu</a:t>
            </a:r>
            <a:r>
              <a:rPr lang="ru-RU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 </a:t>
            </a:r>
            <a:r>
              <a:rPr lang="ru-RU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noformēšana</a:t>
            </a:r>
            <a:r>
              <a:rPr lang="lv-LV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, apmaksa un </a:t>
            </a:r>
            <a:r>
              <a:rPr lang="lv-LV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atcelša</a:t>
            </a:r>
            <a:r>
              <a:rPr lang="en-US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n</a:t>
            </a:r>
            <a:r>
              <a:rPr lang="lv-LV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a</a:t>
            </a:r>
            <a:r>
              <a:rPr lang="ru-RU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 </a:t>
            </a:r>
            <a:endParaRPr lang="lv-LV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r>
              <a:rPr lang="ru-RU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Administrēšanas</a:t>
            </a:r>
            <a:r>
              <a:rPr lang="ru-RU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 </a:t>
            </a:r>
            <a:r>
              <a:rPr lang="ru-RU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panelis</a:t>
            </a:r>
            <a:endParaRPr lang="lv-LV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r>
              <a:rPr lang="lv-LV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PDF rēķins un pasūtījumu vēsture</a:t>
            </a:r>
            <a:endParaRPr lang="ru-RU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endParaRPr lang="lv-LV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797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351189-658D-9EE5-12AF-0E4ED4A23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04168"/>
            <a:ext cx="9905998" cy="819757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Sistēmas funkcionalitāte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2FC146-4CC9-8B9D-D40D-6CCB307D3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4628" y="1058435"/>
            <a:ext cx="3293197" cy="5551488"/>
          </a:xfrm>
          <a:noFill/>
          <a:ln w="31750">
            <a:noFill/>
            <a:prstDash val="sysDot"/>
          </a:ln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Reģistrēts </a:t>
            </a:r>
            <a:r>
              <a:rPr lang="en-US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l</a:t>
            </a:r>
            <a:r>
              <a:rPr lang="lv-LV" sz="2000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ietotājs</a:t>
            </a:r>
            <a:endParaRPr lang="lv-LV" sz="20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anose="020B0502040204020203" pitchFamily="34" charset="0"/>
            </a:endParaRPr>
          </a:p>
          <a:p>
            <a:pPr algn="ctr"/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Autorizācija</a:t>
            </a:r>
          </a:p>
          <a:p>
            <a:pPr algn="ctr"/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E-pasta apstiprināšana</a:t>
            </a:r>
          </a:p>
          <a:p>
            <a:pPr algn="ctr"/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Servera konfigurēšana</a:t>
            </a:r>
          </a:p>
          <a:p>
            <a:pPr algn="ctr"/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Pasūtījuma noformēšana</a:t>
            </a:r>
          </a:p>
          <a:p>
            <a:pPr algn="ctr"/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Apmaksa/atcelšana</a:t>
            </a:r>
          </a:p>
          <a:p>
            <a:pPr algn="ctr"/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PDF rēķinu saņemšana</a:t>
            </a:r>
          </a:p>
          <a:p>
            <a:pPr algn="ctr"/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Pasūtījumu vēsture</a:t>
            </a:r>
          </a:p>
          <a:p>
            <a:pPr algn="ctr"/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Profils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BBE9B72-3851-A177-23E7-15CD1B68658A}"/>
              </a:ext>
            </a:extLst>
          </p:cNvPr>
          <p:cNvSpPr txBox="1">
            <a:spLocks/>
          </p:cNvSpPr>
          <p:nvPr/>
        </p:nvSpPr>
        <p:spPr>
          <a:xfrm>
            <a:off x="8013826" y="1058435"/>
            <a:ext cx="3293198" cy="5551488"/>
          </a:xfrm>
          <a:prstGeom prst="rect">
            <a:avLst/>
          </a:prstGeom>
          <a:noFill/>
          <a:ln w="31750">
            <a:noFill/>
            <a:prstDash val="sysDot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Administrators</a:t>
            </a:r>
          </a:p>
          <a:p>
            <a:pPr algn="ctr"/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Serveru pārvaldība</a:t>
            </a:r>
          </a:p>
          <a:p>
            <a:pPr algn="ctr"/>
            <a:r>
              <a:rPr lang="lv-LV" sz="2000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Komponen</a:t>
            </a:r>
            <a:r>
              <a:rPr lang="en-US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t</a:t>
            </a:r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u pārvaldība</a:t>
            </a:r>
          </a:p>
          <a:p>
            <a:pPr algn="ctr"/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Pasūtījumu pārvaldība</a:t>
            </a:r>
          </a:p>
          <a:p>
            <a:pPr algn="ctr"/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Rēķinu rekvizīti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8E06778A-CC19-D657-4CA1-634100CE773D}"/>
              </a:ext>
            </a:extLst>
          </p:cNvPr>
          <p:cNvCxnSpPr>
            <a:cxnSpLocks/>
          </p:cNvCxnSpPr>
          <p:nvPr/>
        </p:nvCxnSpPr>
        <p:spPr>
          <a:xfrm>
            <a:off x="4508626" y="912608"/>
            <a:ext cx="0" cy="5667375"/>
          </a:xfrm>
          <a:prstGeom prst="line">
            <a:avLst/>
          </a:prstGeom>
          <a:ln w="19050">
            <a:solidFill>
              <a:srgbClr val="ACA6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E86E22C-463B-8863-3714-A77833FEABB1}"/>
              </a:ext>
            </a:extLst>
          </p:cNvPr>
          <p:cNvCxnSpPr/>
          <p:nvPr/>
        </p:nvCxnSpPr>
        <p:spPr>
          <a:xfrm>
            <a:off x="8013826" y="912608"/>
            <a:ext cx="0" cy="5667375"/>
          </a:xfrm>
          <a:prstGeom prst="line">
            <a:avLst/>
          </a:prstGeom>
          <a:ln w="19050">
            <a:solidFill>
              <a:srgbClr val="ACA6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F5AF679-BE40-36F9-6172-4B2214E4DE55}"/>
              </a:ext>
            </a:extLst>
          </p:cNvPr>
          <p:cNvSpPr txBox="1"/>
          <p:nvPr/>
        </p:nvSpPr>
        <p:spPr>
          <a:xfrm>
            <a:off x="1003427" y="1058435"/>
            <a:ext cx="3298949" cy="2338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Viesis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Kataloga apskate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Servera konfigurēšana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Iepirkum</a:t>
            </a:r>
            <a:r>
              <a:rPr lang="en-US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u</a:t>
            </a:r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 grozs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Reģistrācija</a:t>
            </a:r>
          </a:p>
        </p:txBody>
      </p:sp>
    </p:spTree>
    <p:extLst>
      <p:ext uri="{BB962C8B-B14F-4D97-AF65-F5344CB8AC3E}">
        <p14:creationId xmlns:p14="http://schemas.microsoft.com/office/powerpoint/2010/main" val="4173897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D5FEA5-492C-1C15-C558-86A671D03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847725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Izmantotās tehnoloģijas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AB290DE-29AA-8F0E-2E77-1721639A2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7919" y="1474313"/>
            <a:ext cx="2149436" cy="685800"/>
          </a:xfrm>
        </p:spPr>
        <p:txBody>
          <a:bodyPr anchor="ctr"/>
          <a:lstStyle/>
          <a:p>
            <a:pPr algn="ctr"/>
            <a:r>
              <a:rPr lang="lv-LV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Frontend</a:t>
            </a:r>
            <a:endParaRPr lang="ru-RU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9C38781-FC13-1F8E-8D05-7CCD41675F61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013988" y="2276475"/>
            <a:ext cx="2263367" cy="351472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HTML</a:t>
            </a:r>
            <a:endParaRPr lang="lv-LV" sz="24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CSS</a:t>
            </a:r>
            <a:endParaRPr lang="lv-LV" sz="24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Tailwind </a:t>
            </a:r>
            <a:endParaRPr lang="lv-LV" sz="24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JavaScript</a:t>
            </a:r>
            <a:endParaRPr lang="lv-LV" sz="24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KnockoutJ</a:t>
            </a:r>
            <a:r>
              <a:rPr lang="lv-LV" sz="24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S</a:t>
            </a:r>
            <a:endParaRPr lang="ru-RU" sz="24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650A7C9-C84C-69F9-6EFF-7B1FCE6C8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57455" y="1481965"/>
            <a:ext cx="1889528" cy="685800"/>
          </a:xfrm>
        </p:spPr>
        <p:txBody>
          <a:bodyPr anchor="ctr"/>
          <a:lstStyle/>
          <a:p>
            <a:pPr algn="ctr"/>
            <a:r>
              <a:rPr lang="lv-LV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Backend</a:t>
            </a:r>
            <a:endParaRPr lang="ru-RU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34EA100-E88A-33A5-7C32-B2DCDA11F76A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427501" y="2273303"/>
            <a:ext cx="2149436" cy="351789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PHP</a:t>
            </a:r>
            <a:endParaRPr lang="lv-LV" sz="24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MySQL</a:t>
            </a:r>
            <a:endParaRPr lang="lv-LV" sz="24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PDO</a:t>
            </a:r>
            <a:endParaRPr lang="lv-LV" sz="24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v-LV" sz="2400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Composer</a:t>
            </a:r>
            <a:endParaRPr lang="lv-LV" sz="24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v-LV" sz="24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5F7E8C-2EF9-882B-9608-7E5F2BC339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52442" y="1474313"/>
            <a:ext cx="3194968" cy="685800"/>
          </a:xfrm>
        </p:spPr>
        <p:txBody>
          <a:bodyPr anchor="ctr"/>
          <a:lstStyle/>
          <a:p>
            <a:pPr algn="ctr"/>
            <a:r>
              <a:rPr lang="lv-LV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Rīki</a:t>
            </a:r>
            <a:endParaRPr lang="ru-RU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C8F3D65-A869-D3CD-4074-313271783473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8021369" y="2273303"/>
            <a:ext cx="3072959" cy="351789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Visual Studio Code</a:t>
            </a:r>
            <a:endParaRPr lang="lv-LV" sz="24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phpMyAdmin</a:t>
            </a:r>
            <a:endParaRPr lang="lv-LV" sz="24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v-LV" sz="2400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Docker</a:t>
            </a:r>
            <a:endParaRPr lang="lv-LV" sz="24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v-LV" sz="2400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Git</a:t>
            </a:r>
            <a:r>
              <a:rPr lang="lv-LV" sz="24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/</a:t>
            </a:r>
            <a:r>
              <a:rPr lang="lv-LV" sz="2400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Git</a:t>
            </a:r>
            <a:r>
              <a:rPr lang="en-US" sz="24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H</a:t>
            </a:r>
            <a:r>
              <a:rPr lang="lv-LV" sz="2400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ub</a:t>
            </a:r>
            <a:endParaRPr lang="lv-LV" sz="24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v-LV" sz="2400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Mailpit</a:t>
            </a:r>
            <a:endParaRPr lang="lv-LV" sz="24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v-LV" sz="2400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PHPUnit</a:t>
            </a:r>
            <a:endParaRPr lang="ru-RU" sz="24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A962ABAB-756C-DB64-8C5E-394D145C9340}"/>
              </a:ext>
            </a:extLst>
          </p:cNvPr>
          <p:cNvSpPr txBox="1">
            <a:spLocks/>
          </p:cNvSpPr>
          <p:nvPr/>
        </p:nvSpPr>
        <p:spPr>
          <a:xfrm>
            <a:off x="5791015" y="1474030"/>
            <a:ext cx="2149435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400" b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BIBLIOT</a:t>
            </a:r>
            <a:r>
              <a:rPr lang="lv-LV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Ē</a:t>
            </a:r>
            <a:r>
              <a:rPr lang="en-US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KAS</a:t>
            </a:r>
            <a:endParaRPr lang="ru-RU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</p:txBody>
      </p:sp>
      <p:sp>
        <p:nvSpPr>
          <p:cNvPr id="12" name="Текст 5">
            <a:extLst>
              <a:ext uri="{FF2B5EF4-FFF2-40B4-BE49-F238E27FC236}">
                <a16:creationId xmlns:a16="http://schemas.microsoft.com/office/drawing/2014/main" id="{69A59EEC-BA77-A0DC-9E35-02424B0DE7F8}"/>
              </a:ext>
            </a:extLst>
          </p:cNvPr>
          <p:cNvSpPr txBox="1">
            <a:spLocks/>
          </p:cNvSpPr>
          <p:nvPr/>
        </p:nvSpPr>
        <p:spPr>
          <a:xfrm>
            <a:off x="5791015" y="2273303"/>
            <a:ext cx="2149436" cy="3517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lv-LV" sz="2400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Dompdf</a:t>
            </a:r>
            <a:endParaRPr lang="lv-LV" sz="24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v-LV" sz="2400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PHPMailer</a:t>
            </a:r>
            <a:endParaRPr lang="lv-LV" sz="24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lv-LV" sz="2400" dirty="0" err="1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phpdotenv</a:t>
            </a:r>
            <a:endParaRPr lang="lv-LV" sz="24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7944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72F117-0835-3D1D-6559-DBA0AB841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70843"/>
            <a:ext cx="9905998" cy="1478570"/>
          </a:xfrm>
        </p:spPr>
        <p:txBody>
          <a:bodyPr/>
          <a:lstStyle/>
          <a:p>
            <a:pPr algn="ctr"/>
            <a:r>
              <a:rPr lang="ru-RU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Sistēmas arhitektūra (MVC)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B9A84-E7F2-A05F-DA7B-43328C0EE757}"/>
              </a:ext>
            </a:extLst>
          </p:cNvPr>
          <p:cNvSpPr txBox="1"/>
          <p:nvPr/>
        </p:nvSpPr>
        <p:spPr>
          <a:xfrm>
            <a:off x="859967" y="1690060"/>
            <a:ext cx="56007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MVC (Model–View–Controller) ir programmatūras arhitektūras modelis, kas sadala sistēmu trīs neatkarīgās daļās.</a:t>
            </a:r>
          </a:p>
          <a:p>
            <a:endParaRPr lang="lv-LV" sz="20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Model atbild par datu apstrādi un darbu ar datubāzi.</a:t>
            </a:r>
          </a:p>
          <a:p>
            <a:endParaRPr lang="lv-LV" sz="20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View nodrošina lietotāja saskarnes attēlošanu.</a:t>
            </a:r>
          </a:p>
          <a:p>
            <a:endParaRPr lang="lv-LV" sz="20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  <a:p>
            <a:r>
              <a:rPr lang="lv-LV" sz="2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Light" panose="020B0502040204020203" pitchFamily="34" charset="0"/>
              </a:rPr>
              <a:t>Controller apstrādā lietotāja pieprasījumus un koordinē datu apmaiņu starp Model un View.</a:t>
            </a:r>
            <a:endParaRPr lang="ru-RU" sz="20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Light" panose="020B0502040204020203" pitchFamily="34" charset="0"/>
            </a:endParaRP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F8C63D23-0F56-0BB0-899F-C80B3BE702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186" y="1412693"/>
            <a:ext cx="4871366" cy="403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024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9FD504-C6BE-B591-9D42-D7334C103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Drošība</a:t>
            </a:r>
            <a:endParaRPr lang="ru-RU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A263BA-C724-9503-3C3C-2E6C9341D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9905999" cy="3541714"/>
          </a:xfrm>
        </p:spPr>
        <p:txBody>
          <a:bodyPr>
            <a:noAutofit/>
          </a:bodyPr>
          <a:lstStyle/>
          <a:p>
            <a:r>
              <a:rPr lang="lv-LV" dirty="0">
                <a:solidFill>
                  <a:srgbClr val="D8D5BE"/>
                </a:solidFill>
                <a:latin typeface="Bahnschrift SemiLight" panose="020B0502040204020203" pitchFamily="34" charset="0"/>
              </a:rPr>
              <a:t>Paroles tiek glabātas jauktā veidā</a:t>
            </a:r>
          </a:p>
          <a:p>
            <a:r>
              <a:rPr lang="lv-LV" dirty="0">
                <a:solidFill>
                  <a:srgbClr val="D8D5BE"/>
                </a:solidFill>
                <a:latin typeface="Bahnschrift SemiLight" panose="020B0502040204020203" pitchFamily="34" charset="0"/>
              </a:rPr>
              <a:t>PDO vaicājumi pret SQL injekcijām</a:t>
            </a:r>
            <a:endParaRPr lang="en-US" dirty="0">
              <a:solidFill>
                <a:srgbClr val="D8D5BE"/>
              </a:solidFill>
              <a:latin typeface="Bahnschrift SemiLight" panose="020B0502040204020203" pitchFamily="34" charset="0"/>
            </a:endParaRPr>
          </a:p>
          <a:p>
            <a:r>
              <a:rPr lang="en-US" dirty="0" err="1">
                <a:solidFill>
                  <a:srgbClr val="D8D5BE"/>
                </a:solidFill>
                <a:latin typeface="Bahnschrift SemiLight" panose="020B0502040204020203" pitchFamily="34" charset="0"/>
              </a:rPr>
              <a:t>Izvades</a:t>
            </a:r>
            <a:r>
              <a:rPr lang="en-US" dirty="0">
                <a:solidFill>
                  <a:srgbClr val="D8D5BE"/>
                </a:solidFill>
                <a:latin typeface="Bahnschrift SemiLight" panose="020B0502040204020203" pitchFamily="34" charset="0"/>
              </a:rPr>
              <a:t> </a:t>
            </a:r>
            <a:r>
              <a:rPr lang="en-US" dirty="0" err="1">
                <a:solidFill>
                  <a:srgbClr val="D8D5BE"/>
                </a:solidFill>
                <a:latin typeface="Bahnschrift SemiLight" panose="020B0502040204020203" pitchFamily="34" charset="0"/>
              </a:rPr>
              <a:t>kod</a:t>
            </a:r>
            <a:r>
              <a:rPr lang="lv-LV" dirty="0">
                <a:solidFill>
                  <a:srgbClr val="D8D5BE"/>
                </a:solidFill>
                <a:latin typeface="Bahnschrift SemiLight" panose="020B0502040204020203" pitchFamily="34" charset="0"/>
              </a:rPr>
              <a:t>ēšana (</a:t>
            </a:r>
            <a:r>
              <a:rPr lang="lv-LV" dirty="0" err="1">
                <a:solidFill>
                  <a:srgbClr val="D8D5BE"/>
                </a:solidFill>
                <a:latin typeface="Bahnschrift SemiLight" panose="020B0502040204020203" pitchFamily="34" charset="0"/>
              </a:rPr>
              <a:t>htmlspecialchars</a:t>
            </a:r>
            <a:r>
              <a:rPr lang="lv-LV" dirty="0">
                <a:solidFill>
                  <a:srgbClr val="D8D5BE"/>
                </a:solidFill>
                <a:latin typeface="Bahnschrift SemiLight" panose="020B0502040204020203" pitchFamily="34" charset="0"/>
              </a:rPr>
              <a:t>) pret XSS</a:t>
            </a:r>
            <a:endParaRPr lang="ru-RU" dirty="0">
              <a:solidFill>
                <a:srgbClr val="D8D5BE"/>
              </a:solidFill>
              <a:latin typeface="Bahnschrift SemiLight" panose="020B0502040204020203" pitchFamily="34" charset="0"/>
            </a:endParaRPr>
          </a:p>
          <a:p>
            <a:r>
              <a:rPr lang="lv-LV" dirty="0">
                <a:solidFill>
                  <a:srgbClr val="D8D5BE"/>
                </a:solidFill>
                <a:latin typeface="Bahnschrift SemiLight" panose="020B0502040204020203" pitchFamily="34" charset="0"/>
              </a:rPr>
              <a:t>Cena tiek aprēķināta serverī</a:t>
            </a:r>
          </a:p>
          <a:p>
            <a:r>
              <a:rPr lang="lv-LV" dirty="0">
                <a:solidFill>
                  <a:srgbClr val="D8D5BE"/>
                </a:solidFill>
                <a:latin typeface="Bahnschrift SemiLight" panose="020B0502040204020203" pitchFamily="34" charset="0"/>
              </a:rPr>
              <a:t>Augšupielādei tiek pieņemti tikai attēlu faili, izpildāmi faili tiek noraidīti</a:t>
            </a:r>
          </a:p>
          <a:p>
            <a:r>
              <a:rPr lang="lv-LV" dirty="0">
                <a:solidFill>
                  <a:srgbClr val="D8D5BE"/>
                </a:solidFill>
                <a:latin typeface="Bahnschrift SemiLight" panose="020B0502040204020203" pitchFamily="34" charset="0"/>
              </a:rPr>
              <a:t>CSRF marķieris katrā datus mainošā pieprasījumā</a:t>
            </a:r>
            <a:endParaRPr lang="ru-RU" dirty="0">
              <a:solidFill>
                <a:srgbClr val="D8D5BE"/>
              </a:solidFill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849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85D4F-4BFF-3878-E072-45A8296B8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C15531-DE5B-47B5-FB1D-A5D579C1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NĀKOTNES PLĀNI</a:t>
            </a:r>
            <a:endParaRPr lang="ru-RU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6294E4-755D-79C4-8232-09A585FE1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lv-LV" sz="2800" dirty="0">
                <a:solidFill>
                  <a:srgbClr val="D8D5BE"/>
                </a:solidFill>
                <a:latin typeface="Bahnschrift SemiLight" panose="020B0502040204020203" pitchFamily="34" charset="0"/>
              </a:rPr>
              <a:t>Reāla maksājumu sistēma</a:t>
            </a:r>
          </a:p>
          <a:p>
            <a:r>
              <a:rPr lang="lv-LV" sz="2800" dirty="0">
                <a:solidFill>
                  <a:srgbClr val="D8D5BE"/>
                </a:solidFill>
                <a:latin typeface="Bahnschrift SemiLight" panose="020B0502040204020203" pitchFamily="34" charset="0"/>
              </a:rPr>
              <a:t>Komponentu savietojamības pārbaude</a:t>
            </a:r>
          </a:p>
          <a:p>
            <a:r>
              <a:rPr lang="lv-LV" sz="2800" dirty="0">
                <a:solidFill>
                  <a:srgbClr val="D8D5BE"/>
                </a:solidFill>
                <a:latin typeface="Bahnschrift SemiLight" panose="020B0502040204020203" pitchFamily="34" charset="0"/>
              </a:rPr>
              <a:t>Čats ar administratoru</a:t>
            </a:r>
          </a:p>
          <a:p>
            <a:r>
              <a:rPr lang="lv-LV" sz="2800" dirty="0">
                <a:solidFill>
                  <a:srgbClr val="D8D5BE"/>
                </a:solidFill>
                <a:latin typeface="Bahnschrift SemiLight" panose="020B0502040204020203" pitchFamily="34" charset="0"/>
              </a:rPr>
              <a:t>OS izvēle </a:t>
            </a:r>
            <a:r>
              <a:rPr lang="lv-LV" sz="2800" dirty="0" err="1">
                <a:solidFill>
                  <a:srgbClr val="D8D5BE"/>
                </a:solidFill>
                <a:latin typeface="Bahnschrift SemiLight" panose="020B0502040204020203" pitchFamily="34" charset="0"/>
              </a:rPr>
              <a:t>konfiguratorā</a:t>
            </a:r>
            <a:endParaRPr lang="lv-LV" sz="2800" dirty="0">
              <a:solidFill>
                <a:srgbClr val="D8D5BE"/>
              </a:solidFill>
              <a:latin typeface="Bahnschrift SemiLight" panose="020B0502040204020203" pitchFamily="34" charset="0"/>
            </a:endParaRPr>
          </a:p>
          <a:p>
            <a:r>
              <a:rPr lang="lv-LV" sz="2800" dirty="0">
                <a:solidFill>
                  <a:srgbClr val="D8D5BE"/>
                </a:solidFill>
                <a:latin typeface="Bahnschrift SemiLight" panose="020B0502040204020203" pitchFamily="34" charset="0"/>
              </a:rPr>
              <a:t>Paziņojumi administratoram par jauniem pasūtījumiem</a:t>
            </a:r>
          </a:p>
        </p:txBody>
      </p:sp>
    </p:spTree>
    <p:extLst>
      <p:ext uri="{BB962C8B-B14F-4D97-AF65-F5344CB8AC3E}">
        <p14:creationId xmlns:p14="http://schemas.microsoft.com/office/powerpoint/2010/main" val="1917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E41F0A-D7BB-95EB-A98B-D4245904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835917"/>
            <a:ext cx="9905998" cy="1186166"/>
          </a:xfrm>
        </p:spPr>
        <p:txBody>
          <a:bodyPr>
            <a:noAutofit/>
          </a:bodyPr>
          <a:lstStyle/>
          <a:p>
            <a:pPr algn="ctr"/>
            <a:r>
              <a:rPr lang="en-US" sz="8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Demonstr</a:t>
            </a:r>
            <a:r>
              <a:rPr lang="lv-LV" sz="80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ācija</a:t>
            </a:r>
            <a:endParaRPr lang="ru-RU" sz="80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274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5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7133C2-6B70-B26C-4441-E04FB04E54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2543" y="2921793"/>
            <a:ext cx="9586913" cy="1014413"/>
          </a:xfrm>
        </p:spPr>
        <p:txBody>
          <a:bodyPr>
            <a:noAutofit/>
          </a:bodyPr>
          <a:lstStyle/>
          <a:p>
            <a:r>
              <a:rPr lang="lv-LV" sz="6600" dirty="0">
                <a:solidFill>
                  <a:srgbClr val="D8D5B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PALDIES PAR UZMANĪBU</a:t>
            </a:r>
            <a:endParaRPr lang="ru-RU" sz="6600" dirty="0">
              <a:solidFill>
                <a:srgbClr val="D8D5B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733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Зеленый и желтый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TM04033919[[fn=Контур]]</Template>
  <TotalTime>1317</TotalTime>
  <Words>251</Words>
  <Application>Microsoft Office PowerPoint</Application>
  <PresentationFormat>Широкоэкранный</PresentationFormat>
  <Paragraphs>79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Bahnschrift SemiBold</vt:lpstr>
      <vt:lpstr>Bahnschrift SemiLight</vt:lpstr>
      <vt:lpstr>Tw Cen MT</vt:lpstr>
      <vt:lpstr>Контур</vt:lpstr>
      <vt:lpstr>Tīmekļa vietne lokālo serveru pārdošanai</vt:lpstr>
      <vt:lpstr>Projekta mērķis un uzdevumi</vt:lpstr>
      <vt:lpstr>Sistēmas funkcionalitāte</vt:lpstr>
      <vt:lpstr>Izmantotās tehnoloģijas</vt:lpstr>
      <vt:lpstr>Sistēmas arhitektūra (MVC)</vt:lpstr>
      <vt:lpstr>Drošība</vt:lpstr>
      <vt:lpstr>NĀKOTNES PLĀNI</vt:lpstr>
      <vt:lpstr>Demonstrācija</vt:lpstr>
      <vt:lpstr>PALDIES PAR UZMANĪBU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sergey grinkevich</dc:creator>
  <cp:lastModifiedBy>sergey grinkevich</cp:lastModifiedBy>
  <cp:revision>8</cp:revision>
  <dcterms:created xsi:type="dcterms:W3CDTF">2026-06-18T11:13:23Z</dcterms:created>
  <dcterms:modified xsi:type="dcterms:W3CDTF">2026-10-15T21:08:34Z</dcterms:modified>
</cp:coreProperties>
</file>